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5"/>
    <p:sldMasterId id="214748365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y="5143500" cx="9144000"/>
  <p:notesSz cx="6858000" cy="9144000"/>
  <p:embeddedFontLst>
    <p:embeddedFont>
      <p:font typeface="Poppins"/>
      <p:regular r:id="rId48"/>
      <p:bold r:id="rId49"/>
      <p:italic r:id="rId50"/>
      <p:boldItalic r:id="rId51"/>
    </p:embeddedFont>
    <p:embeddedFont>
      <p:font typeface="Poppins Light"/>
      <p:regular r:id="rId52"/>
      <p:bold r:id="rId53"/>
      <p:italic r:id="rId54"/>
      <p:boldItalic r:id="rId55"/>
    </p:embeddedFont>
    <p:embeddedFont>
      <p:font typeface="Poppins SemiBold"/>
      <p:regular r:id="rId56"/>
      <p:bold r:id="rId57"/>
      <p:italic r:id="rId58"/>
      <p:boldItalic r:id="rId59"/>
    </p:embeddedFont>
    <p:embeddedFont>
      <p:font typeface="Roboto Mon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489253-3AD9-402D-9A09-E0A550FC006D}">
  <a:tblStyle styleId="{44489253-3AD9-402D-9A09-E0A550FC006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oppins-regular.fntdata"/><Relationship Id="rId47" Type="http://schemas.openxmlformats.org/officeDocument/2006/relationships/slide" Target="slides/slide40.xml"/><Relationship Id="rId49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RobotoMono-italic.fntdata"/><Relationship Id="rId61" Type="http://schemas.openxmlformats.org/officeDocument/2006/relationships/font" Target="fonts/RobotoMono-bold.fntdata"/><Relationship Id="rId20" Type="http://schemas.openxmlformats.org/officeDocument/2006/relationships/slide" Target="slides/slide13.xml"/><Relationship Id="rId63" Type="http://schemas.openxmlformats.org/officeDocument/2006/relationships/font" Target="fonts/RobotoMono-bold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RobotoMono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Poppins-boldItalic.fntdata"/><Relationship Id="rId50" Type="http://schemas.openxmlformats.org/officeDocument/2006/relationships/font" Target="fonts/Poppins-italic.fntdata"/><Relationship Id="rId53" Type="http://schemas.openxmlformats.org/officeDocument/2006/relationships/font" Target="fonts/PoppinsLight-bold.fntdata"/><Relationship Id="rId52" Type="http://schemas.openxmlformats.org/officeDocument/2006/relationships/font" Target="fonts/PoppinsLight-regular.fntdata"/><Relationship Id="rId11" Type="http://schemas.openxmlformats.org/officeDocument/2006/relationships/slide" Target="slides/slide4.xml"/><Relationship Id="rId55" Type="http://schemas.openxmlformats.org/officeDocument/2006/relationships/font" Target="fonts/PoppinsLight-boldItalic.fntdata"/><Relationship Id="rId10" Type="http://schemas.openxmlformats.org/officeDocument/2006/relationships/slide" Target="slides/slide3.xml"/><Relationship Id="rId54" Type="http://schemas.openxmlformats.org/officeDocument/2006/relationships/font" Target="fonts/PoppinsLight-italic.fntdata"/><Relationship Id="rId13" Type="http://schemas.openxmlformats.org/officeDocument/2006/relationships/slide" Target="slides/slide6.xml"/><Relationship Id="rId57" Type="http://schemas.openxmlformats.org/officeDocument/2006/relationships/font" Target="fonts/PoppinsSemiBold-bold.fntdata"/><Relationship Id="rId12" Type="http://schemas.openxmlformats.org/officeDocument/2006/relationships/slide" Target="slides/slide5.xml"/><Relationship Id="rId56" Type="http://schemas.openxmlformats.org/officeDocument/2006/relationships/font" Target="fonts/PoppinsSemiBold-regular.fntdata"/><Relationship Id="rId15" Type="http://schemas.openxmlformats.org/officeDocument/2006/relationships/slide" Target="slides/slide8.xml"/><Relationship Id="rId59" Type="http://schemas.openxmlformats.org/officeDocument/2006/relationships/font" Target="fonts/PoppinsSemiBold-boldItalic.fntdata"/><Relationship Id="rId14" Type="http://schemas.openxmlformats.org/officeDocument/2006/relationships/slide" Target="slides/slide7.xml"/><Relationship Id="rId58" Type="http://schemas.openxmlformats.org/officeDocument/2006/relationships/font" Target="fonts/PoppinsSemiBold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79a4c1cfc6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" name="Google Shape;22;g379a4c1cfc6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79a4c1cfc6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379a4c1cfc6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9a4c1cfc6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9a4c1cfc6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616014dd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616014dd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8b0faefa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8b0faefa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8b0faefa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8b0faefa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b0faefa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8b0faefa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8b0faefa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8b0faefa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8b0faefa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8b0faefa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8b0faefa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8b0faefa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8b0faefa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8b0faefa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8b0faefa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8b0faefa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668f91a6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668f91a6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668f91a6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668f91a6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668f91a6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668f91a6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668f91a6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668f91a6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668f91a6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668f91a6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668f91a6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668f91a6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668f91a6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668f91a6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668f91a6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668f91a6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668f91a6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9668f91a6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668f91a6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668f91a6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668f91a6e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668f91a6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668f91a6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9668f91a6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760800e5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760800e5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7f3c3228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d7f3c3228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7f3c3228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7f3c3228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7f3c3228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7f3c3228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7f3c3228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7f3c3228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760800e5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d760800e5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760800e5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760800e5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760800e5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760800e5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760800e5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d760800e5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760800e5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760800e5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760800e5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760800e5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760800e5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d760800e5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760800e5f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d760800e5f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760800e5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d760800e5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79a4c1cfc6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79a4c1cfc6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7f7b60d4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7f7b60d4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 type="title">
  <p:cSld name="TITLE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seccion" type="secHead">
  <p:cSld name="SECTION_HEADER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ice" type="tx">
  <p:cSld name="TITLE_AND_BODY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Blanco">
  <p:cSld name="5. Blanco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 1">
  <p:cSld name="CUSTOM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solidFill>
          <a:schemeClr val="lt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8Mif4MgPKVr18Jm9BaMEJVI2_GxrDMVQ/view" TargetMode="External"/><Relationship Id="rId5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1" title="portrait-of-happy-college-student-in-the-classroom-2024-12-13-17-08-26-utc.jpg"/>
          <p:cNvPicPr preferRelativeResize="0"/>
          <p:nvPr/>
        </p:nvPicPr>
        <p:blipFill rotWithShape="1">
          <a:blip r:embed="rId3">
            <a:alphaModFix/>
          </a:blip>
          <a:srcRect b="6248" l="0" r="0" t="6248"/>
          <a:stretch/>
        </p:blipFill>
        <p:spPr>
          <a:xfrm>
            <a:off x="0" y="-9300"/>
            <a:ext cx="9144003" cy="5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1"/>
          <p:cNvSpPr/>
          <p:nvPr/>
        </p:nvSpPr>
        <p:spPr>
          <a:xfrm>
            <a:off x="0" y="-9300"/>
            <a:ext cx="9144000" cy="5333100"/>
          </a:xfrm>
          <a:prstGeom prst="rect">
            <a:avLst/>
          </a:prstGeom>
          <a:solidFill>
            <a:srgbClr val="152A1D">
              <a:alpha val="6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1"/>
          <p:cNvSpPr/>
          <p:nvPr/>
        </p:nvSpPr>
        <p:spPr>
          <a:xfrm rot="10800000">
            <a:off x="7782000" y="367900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" name="Google Shape;27;p11"/>
          <p:cNvSpPr/>
          <p:nvPr/>
        </p:nvSpPr>
        <p:spPr>
          <a:xfrm>
            <a:off x="381075" y="3949313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" name="Google Shape;28;p11"/>
          <p:cNvSpPr txBox="1"/>
          <p:nvPr/>
        </p:nvSpPr>
        <p:spPr>
          <a:xfrm>
            <a:off x="1974300" y="1270525"/>
            <a:ext cx="5195400" cy="892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" rtl="0" algn="ctr">
              <a:lnSpc>
                <a:spcPct val="100000"/>
              </a:lnSpc>
              <a:spcBef>
                <a:spcPts val="700"/>
              </a:spcBef>
              <a:spcAft>
                <a:spcPts val="10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lang="es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Barbería</a:t>
            </a:r>
            <a:r>
              <a:rPr lang="es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Martin </a:t>
            </a:r>
            <a:r>
              <a:rPr lang="es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Aplicación web</a:t>
            </a:r>
            <a:r>
              <a:rPr lang="es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 </a:t>
            </a:r>
            <a:r>
              <a:rPr lang="es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Gestión</a:t>
            </a:r>
            <a:r>
              <a:rPr lang="es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para </a:t>
            </a:r>
            <a:r>
              <a:rPr lang="es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Barberías</a:t>
            </a:r>
            <a:endParaRPr i="0" sz="23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9" name="Google Shape;29;p11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5575" y="367900"/>
            <a:ext cx="2473800" cy="3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1"/>
          <p:cNvSpPr txBox="1"/>
          <p:nvPr/>
        </p:nvSpPr>
        <p:spPr>
          <a:xfrm>
            <a:off x="2422650" y="2482050"/>
            <a:ext cx="4298700" cy="19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Nombre: Samuel </a:t>
            </a:r>
            <a:r>
              <a:rPr lang="es" sz="1300">
                <a:solidFill>
                  <a:schemeClr val="lt1"/>
                </a:solidFill>
              </a:rPr>
              <a:t>Martín</a:t>
            </a:r>
            <a:br>
              <a:rPr lang="es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Desarrollo de aplicaciones multiplataforma (</a:t>
            </a:r>
            <a:r>
              <a:rPr lang="es" sz="1300">
                <a:solidFill>
                  <a:schemeClr val="lt1"/>
                </a:solidFill>
              </a:rPr>
              <a:t>DAM 2</a:t>
            </a:r>
            <a:r>
              <a:rPr lang="es" sz="1300">
                <a:solidFill>
                  <a:schemeClr val="lt1"/>
                </a:solidFill>
              </a:rPr>
              <a:t>)</a:t>
            </a:r>
            <a:br>
              <a:rPr lang="es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Prometeo </a:t>
            </a:r>
            <a:r>
              <a:rPr lang="es" sz="1300">
                <a:solidFill>
                  <a:schemeClr val="lt1"/>
                </a:solidFill>
              </a:rPr>
              <a:t>ByThePower</a:t>
            </a:r>
            <a:br>
              <a:rPr lang="es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Tutora: Maria Damia Marques</a:t>
            </a:r>
            <a:br>
              <a:rPr lang="es" sz="1300">
                <a:solidFill>
                  <a:schemeClr val="lt1"/>
                </a:solidFill>
              </a:rPr>
            </a:b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</a:rPr>
              <a:t>Curso 2025-2026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/>
          <p:nvPr/>
        </p:nvSpPr>
        <p:spPr>
          <a:xfrm>
            <a:off x="0" y="0"/>
            <a:ext cx="1938900" cy="51435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00E5"/>
              </a:solidFill>
            </a:endParaRPr>
          </a:p>
        </p:txBody>
      </p:sp>
      <p:sp>
        <p:nvSpPr>
          <p:cNvPr id="36" name="Google Shape;36;p12"/>
          <p:cNvSpPr txBox="1"/>
          <p:nvPr>
            <p:ph idx="1" type="body"/>
          </p:nvPr>
        </p:nvSpPr>
        <p:spPr>
          <a:xfrm>
            <a:off x="2276563" y="134725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8">
                <a:solidFill>
                  <a:srgbClr val="E6945A"/>
                </a:solidFill>
              </a:rPr>
              <a:t>01</a:t>
            </a:r>
            <a:endParaRPr b="1" sz="3038">
              <a:solidFill>
                <a:srgbClr val="E6945A"/>
              </a:solidFill>
            </a:endParaRPr>
          </a:p>
        </p:txBody>
      </p:sp>
      <p:sp>
        <p:nvSpPr>
          <p:cNvPr id="37" name="Google Shape;37;p12"/>
          <p:cNvSpPr txBox="1"/>
          <p:nvPr>
            <p:ph idx="2" type="body"/>
          </p:nvPr>
        </p:nvSpPr>
        <p:spPr>
          <a:xfrm>
            <a:off x="2276563" y="979175"/>
            <a:ext cx="686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8">
                <a:solidFill>
                  <a:srgbClr val="E6945A"/>
                </a:solidFill>
              </a:rPr>
              <a:t>02</a:t>
            </a:r>
            <a:endParaRPr b="1" sz="3038">
              <a:solidFill>
                <a:srgbClr val="E6945A"/>
              </a:solidFill>
            </a:endParaRPr>
          </a:p>
        </p:txBody>
      </p:sp>
      <p:sp>
        <p:nvSpPr>
          <p:cNvPr id="38" name="Google Shape;38;p12"/>
          <p:cNvSpPr txBox="1"/>
          <p:nvPr>
            <p:ph idx="3" type="body"/>
          </p:nvPr>
        </p:nvSpPr>
        <p:spPr>
          <a:xfrm>
            <a:off x="2276563" y="1933275"/>
            <a:ext cx="6861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8">
                <a:solidFill>
                  <a:srgbClr val="E6945A"/>
                </a:solidFill>
              </a:rPr>
              <a:t>03</a:t>
            </a:r>
            <a:endParaRPr b="1" sz="3038">
              <a:solidFill>
                <a:srgbClr val="E6945A"/>
              </a:solidFill>
            </a:endParaRPr>
          </a:p>
        </p:txBody>
      </p:sp>
      <p:sp>
        <p:nvSpPr>
          <p:cNvPr id="39" name="Google Shape;39;p12"/>
          <p:cNvSpPr txBox="1"/>
          <p:nvPr/>
        </p:nvSpPr>
        <p:spPr>
          <a:xfrm>
            <a:off x="202350" y="134725"/>
            <a:ext cx="2074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chemeClr val="lt1"/>
                </a:solidFill>
              </a:rPr>
              <a:t>Índice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40" name="Google Shape;40;p12"/>
          <p:cNvSpPr txBox="1"/>
          <p:nvPr>
            <p:ph type="title"/>
          </p:nvPr>
        </p:nvSpPr>
        <p:spPr>
          <a:xfrm>
            <a:off x="3007088" y="1071726"/>
            <a:ext cx="2394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GENERAL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" name="Google Shape;41;p12"/>
          <p:cNvSpPr txBox="1"/>
          <p:nvPr>
            <p:ph idx="4" type="title"/>
          </p:nvPr>
        </p:nvSpPr>
        <p:spPr>
          <a:xfrm>
            <a:off x="3007088" y="1947238"/>
            <a:ext cx="23940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</a:t>
            </a: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ESPECÍFICOS</a:t>
            </a: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 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2" name="Google Shape;42;p12"/>
          <p:cNvSpPr txBox="1"/>
          <p:nvPr>
            <p:ph idx="5" type="body"/>
          </p:nvPr>
        </p:nvSpPr>
        <p:spPr>
          <a:xfrm>
            <a:off x="2276552" y="2863685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8">
                <a:solidFill>
                  <a:srgbClr val="E6945A"/>
                </a:solidFill>
              </a:rPr>
              <a:t>04</a:t>
            </a:r>
            <a:endParaRPr b="1" sz="3038">
              <a:solidFill>
                <a:srgbClr val="E6945A"/>
              </a:solidFill>
            </a:endParaRPr>
          </a:p>
        </p:txBody>
      </p:sp>
      <p:sp>
        <p:nvSpPr>
          <p:cNvPr id="43" name="Google Shape;43;p12"/>
          <p:cNvSpPr txBox="1"/>
          <p:nvPr>
            <p:ph idx="6" type="body"/>
          </p:nvPr>
        </p:nvSpPr>
        <p:spPr>
          <a:xfrm>
            <a:off x="2276552" y="3910153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8">
                <a:solidFill>
                  <a:srgbClr val="E6945A"/>
                </a:solidFill>
              </a:rPr>
              <a:t>05</a:t>
            </a:r>
            <a:endParaRPr b="1" sz="3038">
              <a:solidFill>
                <a:srgbClr val="E6945A"/>
              </a:solidFill>
            </a:endParaRPr>
          </a:p>
        </p:txBody>
      </p:sp>
      <p:sp>
        <p:nvSpPr>
          <p:cNvPr id="44" name="Google Shape;44;p12"/>
          <p:cNvSpPr txBox="1"/>
          <p:nvPr>
            <p:ph idx="7" type="title"/>
          </p:nvPr>
        </p:nvSpPr>
        <p:spPr>
          <a:xfrm>
            <a:off x="3007088" y="2933351"/>
            <a:ext cx="23940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ALCANCE DEL PROYECTO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5" name="Google Shape;45;p12"/>
          <p:cNvSpPr txBox="1"/>
          <p:nvPr>
            <p:ph idx="8" type="title"/>
          </p:nvPr>
        </p:nvSpPr>
        <p:spPr>
          <a:xfrm>
            <a:off x="3007088" y="3958750"/>
            <a:ext cx="355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INVESTIGACIÓN</a:t>
            </a: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PREVIA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46" name="Google Shape;46;p12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4300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2"/>
          <p:cNvSpPr txBox="1"/>
          <p:nvPr>
            <p:ph idx="9" type="title"/>
          </p:nvPr>
        </p:nvSpPr>
        <p:spPr>
          <a:xfrm>
            <a:off x="3007088" y="235525"/>
            <a:ext cx="23940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INTRODUCCIÓN</a:t>
            </a: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  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8" name="Google Shape;48;p12"/>
          <p:cNvSpPr txBox="1"/>
          <p:nvPr>
            <p:ph idx="13" type="body"/>
          </p:nvPr>
        </p:nvSpPr>
        <p:spPr>
          <a:xfrm>
            <a:off x="5271038" y="134725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8">
                <a:solidFill>
                  <a:srgbClr val="E6945A"/>
                </a:solidFill>
              </a:rPr>
              <a:t>06</a:t>
            </a:r>
            <a:endParaRPr b="1" sz="3038">
              <a:solidFill>
                <a:srgbClr val="E6945A"/>
              </a:solidFill>
            </a:endParaRPr>
          </a:p>
        </p:txBody>
      </p:sp>
      <p:sp>
        <p:nvSpPr>
          <p:cNvPr id="49" name="Google Shape;49;p12"/>
          <p:cNvSpPr txBox="1"/>
          <p:nvPr>
            <p:ph idx="14" type="title"/>
          </p:nvPr>
        </p:nvSpPr>
        <p:spPr>
          <a:xfrm>
            <a:off x="5957138" y="274800"/>
            <a:ext cx="23940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DISEÑO DEL SISTEMA / PRODUCTO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0" name="Google Shape;50;p12"/>
          <p:cNvSpPr txBox="1"/>
          <p:nvPr>
            <p:ph idx="15" type="body"/>
          </p:nvPr>
        </p:nvSpPr>
        <p:spPr>
          <a:xfrm>
            <a:off x="5271052" y="909428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8">
                <a:solidFill>
                  <a:srgbClr val="E6945A"/>
                </a:solidFill>
              </a:rPr>
              <a:t>07</a:t>
            </a:r>
            <a:endParaRPr b="1" sz="3038">
              <a:solidFill>
                <a:srgbClr val="E6945A"/>
              </a:solidFill>
            </a:endParaRPr>
          </a:p>
        </p:txBody>
      </p:sp>
      <p:sp>
        <p:nvSpPr>
          <p:cNvPr id="51" name="Google Shape;51;p12"/>
          <p:cNvSpPr txBox="1"/>
          <p:nvPr>
            <p:ph idx="16" type="title"/>
          </p:nvPr>
        </p:nvSpPr>
        <p:spPr>
          <a:xfrm>
            <a:off x="5957138" y="988788"/>
            <a:ext cx="355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DESARROLLO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2" name="Google Shape;52;p12"/>
          <p:cNvSpPr txBox="1"/>
          <p:nvPr>
            <p:ph idx="17" type="body"/>
          </p:nvPr>
        </p:nvSpPr>
        <p:spPr>
          <a:xfrm>
            <a:off x="5271052" y="2371528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8">
                <a:solidFill>
                  <a:srgbClr val="E6945A"/>
                </a:solidFill>
              </a:rPr>
              <a:t>09</a:t>
            </a:r>
            <a:endParaRPr b="1" sz="3038">
              <a:solidFill>
                <a:srgbClr val="E6945A"/>
              </a:solidFill>
            </a:endParaRPr>
          </a:p>
        </p:txBody>
      </p:sp>
      <p:sp>
        <p:nvSpPr>
          <p:cNvPr id="53" name="Google Shape;53;p12"/>
          <p:cNvSpPr txBox="1"/>
          <p:nvPr>
            <p:ph idx="18" type="title"/>
          </p:nvPr>
        </p:nvSpPr>
        <p:spPr>
          <a:xfrm>
            <a:off x="5957138" y="2444425"/>
            <a:ext cx="355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4" name="Google Shape;54;p12"/>
          <p:cNvSpPr txBox="1"/>
          <p:nvPr>
            <p:ph idx="19" type="body"/>
          </p:nvPr>
        </p:nvSpPr>
        <p:spPr>
          <a:xfrm>
            <a:off x="5271052" y="3256353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8">
                <a:solidFill>
                  <a:srgbClr val="E6945A"/>
                </a:solidFill>
              </a:rPr>
              <a:t>10</a:t>
            </a:r>
            <a:endParaRPr b="1" sz="3038">
              <a:solidFill>
                <a:srgbClr val="E6945A"/>
              </a:solidFill>
            </a:endParaRPr>
          </a:p>
        </p:txBody>
      </p:sp>
      <p:sp>
        <p:nvSpPr>
          <p:cNvPr id="55" name="Google Shape;55;p12"/>
          <p:cNvSpPr txBox="1"/>
          <p:nvPr>
            <p:ph idx="20" type="title"/>
          </p:nvPr>
        </p:nvSpPr>
        <p:spPr>
          <a:xfrm>
            <a:off x="5957138" y="3304950"/>
            <a:ext cx="355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LINEAS FUTURAS DE MEJORA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6" name="Google Shape;56;p12"/>
          <p:cNvSpPr txBox="1"/>
          <p:nvPr>
            <p:ph idx="21" type="body"/>
          </p:nvPr>
        </p:nvSpPr>
        <p:spPr>
          <a:xfrm>
            <a:off x="5271052" y="1640478"/>
            <a:ext cx="686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s" sz="3038">
                <a:solidFill>
                  <a:srgbClr val="E6945A"/>
                </a:solidFill>
              </a:rPr>
              <a:t>08</a:t>
            </a:r>
            <a:endParaRPr b="1" sz="3038">
              <a:solidFill>
                <a:srgbClr val="E6945A"/>
              </a:solidFill>
            </a:endParaRPr>
          </a:p>
        </p:txBody>
      </p:sp>
      <p:sp>
        <p:nvSpPr>
          <p:cNvPr id="57" name="Google Shape;57;p12"/>
          <p:cNvSpPr txBox="1"/>
          <p:nvPr>
            <p:ph idx="22" type="title"/>
          </p:nvPr>
        </p:nvSpPr>
        <p:spPr>
          <a:xfrm>
            <a:off x="6001588" y="1689075"/>
            <a:ext cx="3556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200">
                <a:solidFill>
                  <a:srgbClr val="152A1D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</a:t>
            </a:r>
            <a:endParaRPr sz="1200">
              <a:solidFill>
                <a:srgbClr val="152A1D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949B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b="12801" l="0" r="0" t="0"/>
          <a:stretch/>
        </p:blipFill>
        <p:spPr>
          <a:xfrm>
            <a:off x="49775" y="190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49775" y="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756475" y="3450500"/>
            <a:ext cx="53166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INTRODUCCIÓN</a:t>
            </a:r>
            <a:endParaRPr sz="3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756475" y="23843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1" sz="8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6" name="Google Shape;66;p13"/>
          <p:cNvCxnSpPr/>
          <p:nvPr/>
        </p:nvCxnSpPr>
        <p:spPr>
          <a:xfrm>
            <a:off x="909273" y="4590631"/>
            <a:ext cx="647100" cy="0"/>
          </a:xfrm>
          <a:prstGeom prst="straightConnector1">
            <a:avLst/>
          </a:prstGeom>
          <a:noFill/>
          <a:ln cap="flat" cmpd="sng" w="76200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" name="Google Shape;67;p13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650" y="47455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/>
        </p:nvSpPr>
        <p:spPr>
          <a:xfrm>
            <a:off x="578775" y="230775"/>
            <a:ext cx="56799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01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INTRODUCCIÓN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4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694525" y="1706575"/>
            <a:ext cx="8086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Este proyecto consiste en el desarrollo de una aplicación para la gestión interna de una barbería. La idea surge al observar que muchos pequeños negocios todavía gestionan sus citas y clientes de forma manual o con sistemas poco organizados, lo que puede generar errores, pérdida de información o dificultad para analizar el rendimiento del negocio.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objetivo es crear una aplicación sencilla, clara y funcional que permita organizar citas, clientes y servicios desde un único sistema.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 nivel personal, me interesaba desarrollar algo relacionado con un negocio real y cercano, porque permite aplicar conceptos de programación, bases de datos y organización empresarial de una forma práctica y fácil de entender.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949B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12801" l="0" r="0" t="0"/>
          <a:stretch/>
        </p:blipFill>
        <p:spPr>
          <a:xfrm>
            <a:off x="49775" y="190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/>
          <p:nvPr/>
        </p:nvSpPr>
        <p:spPr>
          <a:xfrm>
            <a:off x="49775" y="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756475" y="3450500"/>
            <a:ext cx="53166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GENERAL</a:t>
            </a:r>
            <a:endParaRPr sz="3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756475" y="23843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1" sz="8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4" name="Google Shape;84;p15"/>
          <p:cNvCxnSpPr/>
          <p:nvPr/>
        </p:nvCxnSpPr>
        <p:spPr>
          <a:xfrm>
            <a:off x="909273" y="4590631"/>
            <a:ext cx="647100" cy="0"/>
          </a:xfrm>
          <a:prstGeom prst="straightConnector1">
            <a:avLst/>
          </a:prstGeom>
          <a:noFill/>
          <a:ln cap="flat" cmpd="sng" w="76200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5" name="Google Shape;85;p15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650" y="47455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/>
        </p:nvSpPr>
        <p:spPr>
          <a:xfrm>
            <a:off x="578775" y="230775"/>
            <a:ext cx="56799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02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GENERAL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694525" y="1706575"/>
            <a:ext cx="8086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Desarrollar una aplicación web que permita gestionar de manera sencilla y organizada la actividad diaria de una barbería.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La aplicación centralizará la gestión de citas, clientes y servicios en un único sistema, facilitando el control del negocio y reduciendo errores derivados de una gestión manual.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Además, incluirá un pequeño apartado de estadísticas que permita tener una visión básica del rendimiento del negocio, ayudando en la toma de decisiones.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949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 b="12801" l="0" r="0" t="0"/>
          <a:stretch/>
        </p:blipFill>
        <p:spPr>
          <a:xfrm>
            <a:off x="49775" y="190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49775" y="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756475" y="3450500"/>
            <a:ext cx="82875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</a:t>
            </a: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ESPECÍFICOS</a:t>
            </a:r>
            <a:endParaRPr sz="3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756475" y="23843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1" sz="8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2" name="Google Shape;102;p17"/>
          <p:cNvCxnSpPr/>
          <p:nvPr/>
        </p:nvCxnSpPr>
        <p:spPr>
          <a:xfrm>
            <a:off x="909273" y="4590631"/>
            <a:ext cx="647100" cy="0"/>
          </a:xfrm>
          <a:prstGeom prst="straightConnector1">
            <a:avLst/>
          </a:prstGeom>
          <a:noFill/>
          <a:ln cap="flat" cmpd="sng" w="76200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3" name="Google Shape;103;p17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650" y="47455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03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</a:t>
            </a: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ESPECÍFICOS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8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694525" y="1706575"/>
            <a:ext cx="8086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Permitir añadir, editar y eliminar citas.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Gestionar los datos de los clientes.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Administrar los servicios ofrecidos por la barbería (duración y precio).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Mostrar estadísticas básicas de actividad e ingresos.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949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b="12801" l="0" r="0" t="0"/>
          <a:stretch/>
        </p:blipFill>
        <p:spPr>
          <a:xfrm>
            <a:off x="49775" y="190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/>
          <p:nvPr/>
        </p:nvSpPr>
        <p:spPr>
          <a:xfrm>
            <a:off x="49775" y="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756475" y="3450500"/>
            <a:ext cx="82875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ALCANCE DEL PROYECTO</a:t>
            </a:r>
            <a:endParaRPr sz="3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756475" y="23843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1" sz="8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0" name="Google Shape;120;p19"/>
          <p:cNvCxnSpPr/>
          <p:nvPr/>
        </p:nvCxnSpPr>
        <p:spPr>
          <a:xfrm>
            <a:off x="909273" y="4590631"/>
            <a:ext cx="647100" cy="0"/>
          </a:xfrm>
          <a:prstGeom prst="straightConnector1">
            <a:avLst/>
          </a:prstGeom>
          <a:noFill/>
          <a:ln cap="flat" cmpd="sng" w="76200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1" name="Google Shape;121;p19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650" y="47455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04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ALCANCE DEL PROYECTO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0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694525" y="1706575"/>
            <a:ext cx="8086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Permitir añadir, editar y eliminar citas.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Gestionar los datos de los clientes.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Administrar los servicios ofrecidos por la barbería (duración y precio).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Mostrar estadísticas básicas de actividad e ingresos.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949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/>
          <p:cNvPicPr preferRelativeResize="0"/>
          <p:nvPr/>
        </p:nvPicPr>
        <p:blipFill rotWithShape="1">
          <a:blip r:embed="rId3">
            <a:alphaModFix/>
          </a:blip>
          <a:srcRect b="12801" l="0" r="0" t="0"/>
          <a:stretch/>
        </p:blipFill>
        <p:spPr>
          <a:xfrm>
            <a:off x="49775" y="190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/>
          <p:nvPr/>
        </p:nvSpPr>
        <p:spPr>
          <a:xfrm>
            <a:off x="49775" y="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756475" y="3450500"/>
            <a:ext cx="82875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INVESTIGACIÓN PREVIA</a:t>
            </a:r>
            <a:endParaRPr sz="3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756475" y="23843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1" sz="8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38" name="Google Shape;138;p21"/>
          <p:cNvCxnSpPr/>
          <p:nvPr/>
        </p:nvCxnSpPr>
        <p:spPr>
          <a:xfrm>
            <a:off x="909273" y="4590631"/>
            <a:ext cx="647100" cy="0"/>
          </a:xfrm>
          <a:prstGeom prst="straightConnector1">
            <a:avLst/>
          </a:prstGeom>
          <a:noFill/>
          <a:ln cap="flat" cmpd="sng" w="76200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9" name="Google Shape;139;p21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650" y="47455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05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INVESTIGACIÓN</a:t>
            </a: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PREVIA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2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703400" y="1678175"/>
            <a:ext cx="8086200" cy="29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Durante la investigación de barberías y peluquerías, especialmente en pueblos o localidades pequeñas, se ha observado que la mayoría solo disponen de un número de teléfono para contacto y no cuentan con página web propia ni sistema de gestión digital.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Esto provoca que toda la organización de citas, clientes y servicios se haga de manera manual o a través de aplicaciones genéricas de mensajería, lo que puede generar errores y pérdida de información.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La aplicación propuesta busca cubrir esta necesidad real, ofreciendo una herramienta sencilla, intuitiva y adaptada a negocios pequeños, centralizando la gestión de citas, clientes, servicios y estadísticas</a:t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949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3"/>
          <p:cNvPicPr preferRelativeResize="0"/>
          <p:nvPr/>
        </p:nvPicPr>
        <p:blipFill rotWithShape="1">
          <a:blip r:embed="rId3">
            <a:alphaModFix/>
          </a:blip>
          <a:srcRect b="12801" l="0" r="0" t="0"/>
          <a:stretch/>
        </p:blipFill>
        <p:spPr>
          <a:xfrm>
            <a:off x="49775" y="190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/>
          <p:nvPr/>
        </p:nvSpPr>
        <p:spPr>
          <a:xfrm>
            <a:off x="49775" y="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756475" y="3450500"/>
            <a:ext cx="82875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Diseño del sistema / producto</a:t>
            </a:r>
            <a:endParaRPr sz="3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756475" y="23843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b="1" sz="8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56" name="Google Shape;156;p23"/>
          <p:cNvCxnSpPr/>
          <p:nvPr/>
        </p:nvCxnSpPr>
        <p:spPr>
          <a:xfrm>
            <a:off x="909273" y="4590631"/>
            <a:ext cx="647100" cy="0"/>
          </a:xfrm>
          <a:prstGeom prst="straightConnector1">
            <a:avLst/>
          </a:prstGeom>
          <a:noFill/>
          <a:ln cap="flat" cmpd="sng" w="76200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7" name="Google Shape;157;p23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650" y="47455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06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DISEÑO</a:t>
            </a: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DEL SISTEMA / PRODUCTO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3" name="Google Shape;163;p24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4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/>
        </p:nvSpPr>
        <p:spPr>
          <a:xfrm>
            <a:off x="595175" y="1665150"/>
            <a:ext cx="80862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En esta fase se ha definido la estructura general de la aplicación y la forma en la que se organiza el sistema a nivel funcional.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Se trata de una aplicación web orientada a la gestión interna de una barbería, pensada para centralizar en un solo lugar la información de clientes, servicios y citas.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/>
              <a:t>El objetivo de esta parte ha sido dejar clara la base sobre la que se está construyendo el proyecto.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06.1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GENERAL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5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/>
        </p:nvSpPr>
        <p:spPr>
          <a:xfrm>
            <a:off x="595175" y="1665150"/>
            <a:ext cx="80862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La aplicación sigue una estructura cliente-servidor sencilla.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El usuario accede al sistema desde el navegador, PHP se encarga de procesar la lógica de la aplicación y MySQL almacena toda la información necesaria.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De esta forma, cada módulo puede trabajar con datos reales y mantener la información organizada dentro del sistema.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700"/>
              <a:t>Usuario → Navegador → PHP/XAMPP → Base de datos MySQL</a:t>
            </a:r>
            <a:endParaRPr b="1"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06.2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ESTRUCTURA DEL SISTEMA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6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6"/>
          <p:cNvSpPr txBox="1"/>
          <p:nvPr/>
        </p:nvSpPr>
        <p:spPr>
          <a:xfrm>
            <a:off x="578775" y="1665150"/>
            <a:ext cx="45471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El sistema se divide en varios módulos principales que permiten organizar mejor el funcionamiento de la aplicación.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Entre ellos se encuentran el login, el panel principal, la gestión de clientes, la gestión de servicios y la gestión de citas.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/>
              <a:t>Todos estos apartados están conectados con la base de datos, lo que permite que la aplicación funcione de forma integrada.</a:t>
            </a:r>
            <a:endParaRPr sz="1500"/>
          </a:p>
        </p:txBody>
      </p:sp>
      <p:pic>
        <p:nvPicPr>
          <p:cNvPr id="182" name="Google Shape;18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8725" y="1885225"/>
            <a:ext cx="3195325" cy="2250625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06.3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DISEÑO</a:t>
            </a: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 INTERFAZ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7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/>
          <p:nvPr/>
        </p:nvSpPr>
        <p:spPr>
          <a:xfrm>
            <a:off x="595175" y="1665150"/>
            <a:ext cx="51450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La interfaz actual se ha planteado de forma sencilla, dando prioridad a la funcionalidad y a la organización de los módulos principales.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En esta fase ya se puede acceder al login, al panel principal y a varias secciones básicas del sistema.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/>
              <a:t>Aunque el diseño visual todavía es simple, esta estructura permite empezar a trabajar de forma real con la aplicación.</a:t>
            </a:r>
            <a:endParaRPr sz="1700"/>
          </a:p>
        </p:txBody>
      </p:sp>
      <p:pic>
        <p:nvPicPr>
          <p:cNvPr id="191" name="Google Shape;19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975" y="1759600"/>
            <a:ext cx="2445612" cy="2319312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06.4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USABILIDAD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8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8"/>
          <p:cNvSpPr txBox="1"/>
          <p:nvPr/>
        </p:nvSpPr>
        <p:spPr>
          <a:xfrm>
            <a:off x="578775" y="1665150"/>
            <a:ext cx="44949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Se ha buscado que la aplicación tenga una navegación clara y formularios simples, de manera que el uso resulte fácil e intuitivo.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La organización de los apartados permite acceder rápidamente a la información más importante del sistema.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/>
              <a:t>En la entrega final se seguirá mejorando la parte visual y la experiencia de usuario para darle un acabado más profesional.</a:t>
            </a:r>
            <a:endParaRPr sz="1600"/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0427" y="1599250"/>
            <a:ext cx="3915574" cy="3094850"/>
          </a:xfrm>
          <a:prstGeom prst="rect">
            <a:avLst/>
          </a:prstGeom>
          <a:noFill/>
          <a:ln cap="flat" cmpd="sng" w="2857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949B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9"/>
          <p:cNvPicPr preferRelativeResize="0"/>
          <p:nvPr/>
        </p:nvPicPr>
        <p:blipFill rotWithShape="1">
          <a:blip r:embed="rId3">
            <a:alphaModFix/>
          </a:blip>
          <a:srcRect b="12801" l="0" r="0" t="0"/>
          <a:stretch/>
        </p:blipFill>
        <p:spPr>
          <a:xfrm>
            <a:off x="49775" y="190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/>
          <p:nvPr/>
        </p:nvSpPr>
        <p:spPr>
          <a:xfrm>
            <a:off x="49775" y="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756475" y="3450500"/>
            <a:ext cx="82875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DESARROLLO</a:t>
            </a:r>
            <a:endParaRPr sz="3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8" name="Google Shape;208;p29"/>
          <p:cNvSpPr txBox="1"/>
          <p:nvPr/>
        </p:nvSpPr>
        <p:spPr>
          <a:xfrm>
            <a:off x="756475" y="23843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 b="1" sz="8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09" name="Google Shape;209;p29"/>
          <p:cNvCxnSpPr/>
          <p:nvPr/>
        </p:nvCxnSpPr>
        <p:spPr>
          <a:xfrm>
            <a:off x="909273" y="4590631"/>
            <a:ext cx="647100" cy="0"/>
          </a:xfrm>
          <a:prstGeom prst="straightConnector1">
            <a:avLst/>
          </a:prstGeom>
          <a:noFill/>
          <a:ln cap="flat" cmpd="sng" w="76200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0" name="Google Shape;210;p29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650" y="47455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07.1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DESARROLLO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6" name="Google Shape;216;p30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0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0"/>
          <p:cNvSpPr txBox="1"/>
          <p:nvPr/>
        </p:nvSpPr>
        <p:spPr>
          <a:xfrm>
            <a:off x="528900" y="1665150"/>
            <a:ext cx="80862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Una vez definida la estructura del sistema, se ha comenzado el desarrollo de una primera versión funcional de la aplicación.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En esta fase ya se ha trabajado con conexión real a base de datos, páginas en PHP y varios módulos operativos.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/>
              <a:t>El objetivo ha sido avanzar en la parte técnica del proyecto y construir una base sólida para seguir mejorándolo.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1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07.2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ENTORNO DE DESARROLLO</a:t>
            </a:r>
            <a:endParaRPr sz="37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31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1"/>
          <p:cNvSpPr txBox="1"/>
          <p:nvPr/>
        </p:nvSpPr>
        <p:spPr>
          <a:xfrm>
            <a:off x="481925" y="1820350"/>
            <a:ext cx="46482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El proyecto se ha desarrollado en local utilizando XAMPP, que permite trabajar con Apache, PHP y MySQL desde un mismo entorno.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Las pruebas se han realizado en navegador para comprobar el acceso al sistema y el funcionamiento correcto de cada módulo.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Esto ha permitido detectar errores con facilidad e ir </a:t>
            </a:r>
            <a:r>
              <a:rPr lang="es"/>
              <a:t>corrigiendolos</a:t>
            </a:r>
            <a:r>
              <a:rPr lang="es"/>
              <a:t> durante el proceso de desarrollo.</a:t>
            </a:r>
            <a:endParaRPr/>
          </a:p>
        </p:txBody>
      </p:sp>
      <p:pic>
        <p:nvPicPr>
          <p:cNvPr id="227" name="Google Shape;22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2500" y="1557086"/>
            <a:ext cx="4013875" cy="2652625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/>
        </p:nvSpPr>
        <p:spPr>
          <a:xfrm>
            <a:off x="578775" y="230775"/>
            <a:ext cx="79812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07.3 TFG DAM2</a:t>
            </a:r>
            <a:endParaRPr sz="25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9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TECNOLOGÍAS</a:t>
            </a:r>
            <a:r>
              <a:rPr lang="es" sz="29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Y FUNCIONALIDADES IMPLEMENTADAS</a:t>
            </a:r>
            <a:endParaRPr sz="29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703400" y="1579313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2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 txBox="1"/>
          <p:nvPr/>
        </p:nvSpPr>
        <p:spPr>
          <a:xfrm>
            <a:off x="578775" y="1768925"/>
            <a:ext cx="46680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Para el desarrollo del proyecto se han utilizado HTML, PHP, MySQL y JavaScript básico.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Con estas tecnologías se ha conseguido crear una primera versión funcional que permite iniciar sesión y gestionar clientes, servicios y citas.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/>
              <a:t>Aunque todavía queda trabajo por hacer, ya existe una base operativa sobre la que seguir construyendo la versión final.</a:t>
            </a:r>
            <a:endParaRPr sz="1600"/>
          </a:p>
        </p:txBody>
      </p:sp>
      <p:pic>
        <p:nvPicPr>
          <p:cNvPr id="236" name="Google Shape;2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8850" y="1869575"/>
            <a:ext cx="2924275" cy="2364850"/>
          </a:xfrm>
          <a:prstGeom prst="rect">
            <a:avLst/>
          </a:prstGeom>
          <a:noFill/>
          <a:ln cap="flat" cmpd="sng" w="2857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07.4 TFG DAM2</a:t>
            </a:r>
            <a:endParaRPr sz="31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INTEGRACIÓN</a:t>
            </a:r>
            <a:r>
              <a:rPr lang="es" sz="35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CON BASE DE DATOS</a:t>
            </a:r>
            <a:endParaRPr sz="35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2" name="Google Shape;242;p33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33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3"/>
          <p:cNvSpPr txBox="1"/>
          <p:nvPr/>
        </p:nvSpPr>
        <p:spPr>
          <a:xfrm>
            <a:off x="578775" y="1665150"/>
            <a:ext cx="47004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La aplicación está conectada a MySQL mediante PHP, lo que permite guardar y consultar información de forma dinámica.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Actualmente la base de datos incluye tablas para usuarios, clientes, servicios y citas, cubriendo así los módulos principales del proyecto.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/>
              <a:t>Esta integración permite trabajar con datos reales y da soporte al funcionamiento general de la aplicación.</a:t>
            </a:r>
            <a:endParaRPr sz="1600"/>
          </a:p>
        </p:txBody>
      </p:sp>
      <p:pic>
        <p:nvPicPr>
          <p:cNvPr id="245" name="Google Shape;24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5075" y="1905001"/>
            <a:ext cx="3486400" cy="2191000"/>
          </a:xfrm>
          <a:prstGeom prst="rect">
            <a:avLst/>
          </a:prstGeom>
          <a:noFill/>
          <a:ln cap="flat" cmpd="sng" w="2857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/>
        </p:nvSpPr>
        <p:spPr>
          <a:xfrm>
            <a:off x="528900" y="230775"/>
            <a:ext cx="84597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07.5 TFG DAM2</a:t>
            </a:r>
            <a:endParaRPr sz="24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>
                <a:solidFill>
                  <a:srgbClr val="1E374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PROBLEMAS ENCONTRADOS Y ESTADO ACTUAL</a:t>
            </a:r>
            <a:endParaRPr sz="2800">
              <a:solidFill>
                <a:srgbClr val="1E3740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1" name="Google Shape;251;p34"/>
          <p:cNvSpPr/>
          <p:nvPr/>
        </p:nvSpPr>
        <p:spPr>
          <a:xfrm>
            <a:off x="603125" y="1310400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34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4"/>
          <p:cNvSpPr txBox="1"/>
          <p:nvPr/>
        </p:nvSpPr>
        <p:spPr>
          <a:xfrm>
            <a:off x="528900" y="1557075"/>
            <a:ext cx="4620900" cy="18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Durante el desarrollo surgieron algunos problemas relacionados con la conexión entre páginas, la organización del código y el acceso a la base de datos.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Estos errores se fueron resolviendo mediante pruebas en local y revisando la estructura de cada archivo.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/>
              <a:t>Actualmente ya existe una primera versión funcional del proyecto, que servirá como base para seguir trabajando hasta completar la entrega final.</a:t>
            </a:r>
            <a:endParaRPr sz="1600"/>
          </a:p>
        </p:txBody>
      </p:sp>
      <p:pic>
        <p:nvPicPr>
          <p:cNvPr id="254" name="Google Shape;25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9800" y="1895700"/>
            <a:ext cx="3917250" cy="2501939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949B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5"/>
          <p:cNvPicPr preferRelativeResize="0"/>
          <p:nvPr/>
        </p:nvPicPr>
        <p:blipFill rotWithShape="1">
          <a:blip r:embed="rId3">
            <a:alphaModFix/>
          </a:blip>
          <a:srcRect b="12801" l="0" r="0" t="0"/>
          <a:stretch/>
        </p:blipFill>
        <p:spPr>
          <a:xfrm>
            <a:off x="49775" y="190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5"/>
          <p:cNvSpPr/>
          <p:nvPr/>
        </p:nvSpPr>
        <p:spPr>
          <a:xfrm>
            <a:off x="49775" y="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5"/>
          <p:cNvSpPr txBox="1"/>
          <p:nvPr/>
        </p:nvSpPr>
        <p:spPr>
          <a:xfrm>
            <a:off x="756475" y="3450500"/>
            <a:ext cx="82875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</a:t>
            </a:r>
            <a:endParaRPr sz="3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756475" y="23843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 b="1" sz="8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63" name="Google Shape;263;p35"/>
          <p:cNvCxnSpPr/>
          <p:nvPr/>
        </p:nvCxnSpPr>
        <p:spPr>
          <a:xfrm>
            <a:off x="909273" y="4590631"/>
            <a:ext cx="647100" cy="0"/>
          </a:xfrm>
          <a:prstGeom prst="straightConnector1">
            <a:avLst/>
          </a:prstGeom>
          <a:noFill/>
          <a:ln cap="flat" cmpd="sng" w="76200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4" name="Google Shape;264;p35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650" y="47455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08.1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DEMOSTRACION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0" name="Google Shape;270;p36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36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6"/>
          <p:cNvSpPr txBox="1"/>
          <p:nvPr/>
        </p:nvSpPr>
        <p:spPr>
          <a:xfrm>
            <a:off x="299775" y="2383425"/>
            <a:ext cx="2396100" cy="11199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accent2"/>
                </a:solidFill>
              </a:rPr>
              <a:t>Video de </a:t>
            </a:r>
            <a:r>
              <a:rPr b="1" lang="es" sz="1800">
                <a:solidFill>
                  <a:schemeClr val="accent2"/>
                </a:solidFill>
              </a:rPr>
              <a:t>Demostración</a:t>
            </a:r>
            <a:r>
              <a:rPr b="1" lang="es" sz="1800">
                <a:solidFill>
                  <a:schemeClr val="accent2"/>
                </a:solidFill>
              </a:rPr>
              <a:t> de su funcionamiento</a:t>
            </a:r>
            <a:endParaRPr b="1" sz="1800">
              <a:solidFill>
                <a:schemeClr val="accent2"/>
              </a:solidFill>
            </a:endParaRPr>
          </a:p>
        </p:txBody>
      </p:sp>
      <p:pic>
        <p:nvPicPr>
          <p:cNvPr id="273" name="Google Shape;273;p36" title="2026-04-20-13-18-23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3850" y="1557075"/>
            <a:ext cx="5349637" cy="30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08.1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COMPARACION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9" name="Google Shape;279;p37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37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1" name="Google Shape;281;p37"/>
          <p:cNvGraphicFramePr/>
          <p:nvPr/>
        </p:nvGraphicFramePr>
        <p:xfrm>
          <a:off x="176213" y="202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{44489253-3AD9-402D-9A09-E0A550FC006D}</a:tableStyleId>
              </a:tblPr>
              <a:tblGrid>
                <a:gridCol w="4105275"/>
                <a:gridCol w="4686300"/>
              </a:tblGrid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2"/>
                          </a:solidFill>
                        </a:rPr>
                        <a:t>Situación Anterior (Problema)</a:t>
                      </a:r>
                      <a:endParaRPr b="1" sz="1100">
                        <a:solidFill>
                          <a:schemeClr val="lt2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</a:rPr>
                        <a:t>Solución Implementada (Logro)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</a:rPr>
                        <a:t>Gestión Manual:</a:t>
                      </a:r>
                      <a:r>
                        <a:rPr lang="es" sz="1100">
                          <a:solidFill>
                            <a:schemeClr val="lt1"/>
                          </a:solidFill>
                        </a:rPr>
                        <a:t> Citas en papel o mensajes de WhatsApp dispersos.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6AA84F"/>
                          </a:solidFill>
                        </a:rPr>
                        <a:t>Agenda Centralizada:</a:t>
                      </a:r>
                      <a:r>
                        <a:rPr lang="es" sz="1100">
                          <a:solidFill>
                            <a:srgbClr val="6AA84F"/>
                          </a:solidFill>
                        </a:rPr>
                        <a:t> Base de datos MySQL con control de horarios en tiempo real.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</a:rPr>
                        <a:t>Catálogo Estático:</a:t>
                      </a:r>
                      <a:r>
                        <a:rPr lang="es" sz="1100">
                          <a:solidFill>
                            <a:schemeClr val="lt1"/>
                          </a:solidFill>
                        </a:rPr>
                        <a:t> Precios y servicios difíciles de actualizar.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6AA84F"/>
                          </a:solidFill>
                        </a:rPr>
                        <a:t>Panel Admin:</a:t>
                      </a:r>
                      <a:r>
                        <a:rPr lang="es" sz="1100">
                          <a:solidFill>
                            <a:srgbClr val="6AA84F"/>
                          </a:solidFill>
                        </a:rPr>
                        <a:t> Gestión dinámica de servicios y precios desde la interfaz.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chemeClr val="lt1"/>
                          </a:solidFill>
                        </a:rPr>
                        <a:t>Feedback Perdido:</a:t>
                      </a:r>
                      <a:r>
                        <a:rPr lang="es" sz="1100">
                          <a:solidFill>
                            <a:schemeClr val="lt1"/>
                          </a:solidFill>
                        </a:rPr>
                        <a:t> Las opiniones no se aprovechaban para marketing.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6AA84F"/>
                          </a:solidFill>
                        </a:rPr>
                        <a:t>Módulo de Reseñas:</a:t>
                      </a:r>
                      <a:r>
                        <a:rPr lang="es" sz="1100">
                          <a:solidFill>
                            <a:srgbClr val="6AA84F"/>
                          </a:solidFill>
                        </a:rPr>
                        <a:t> Sistema de valoración pública para generar confianza.</a:t>
                      </a:r>
                      <a:endParaRPr sz="1100">
                        <a:solidFill>
                          <a:srgbClr val="6AA84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08.1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PRUEBAS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87" name="Google Shape;287;p38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38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8"/>
          <p:cNvSpPr txBox="1"/>
          <p:nvPr/>
        </p:nvSpPr>
        <p:spPr>
          <a:xfrm>
            <a:off x="419100" y="1665150"/>
            <a:ext cx="4152900" cy="1813200"/>
          </a:xfrm>
          <a:prstGeom prst="rect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Seguridad de Acceso</a:t>
            </a:r>
            <a:endParaRPr b="1" sz="15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/>
              <a:t>Validación de roles PHP. Los clientes no pueden acceder a directorios de administración mediante inyección de URL. </a:t>
            </a:r>
            <a:r>
              <a:rPr b="1" lang="es" sz="1500"/>
              <a:t>Resultado: 100% Seguro.</a:t>
            </a:r>
            <a:endParaRPr b="1" sz="1500"/>
          </a:p>
        </p:txBody>
      </p:sp>
      <p:sp>
        <p:nvSpPr>
          <p:cNvPr id="290" name="Google Shape;290;p38"/>
          <p:cNvSpPr txBox="1"/>
          <p:nvPr/>
        </p:nvSpPr>
        <p:spPr>
          <a:xfrm>
            <a:off x="4865825" y="1665150"/>
            <a:ext cx="4152900" cy="18132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Integridad de BD</a:t>
            </a:r>
            <a:endParaRPr b="1" sz="15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/>
              <a:t>Pruebas de concurrencia en citas. Carga de datos estable y vinculación correcta ID-Cliente/ID-Cita. </a:t>
            </a:r>
            <a:r>
              <a:rPr b="1" lang="es" sz="1500"/>
              <a:t>Resultado: Error 0%.</a:t>
            </a:r>
            <a:endParaRPr b="1" sz="1500"/>
          </a:p>
        </p:txBody>
      </p:sp>
      <p:sp>
        <p:nvSpPr>
          <p:cNvPr id="291" name="Google Shape;291;p38"/>
          <p:cNvSpPr txBox="1"/>
          <p:nvPr/>
        </p:nvSpPr>
        <p:spPr>
          <a:xfrm>
            <a:off x="2346525" y="3626325"/>
            <a:ext cx="4458300" cy="132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Optimización UX</a:t>
            </a:r>
            <a:endParaRPr b="1" sz="15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/>
              <a:t>Carga dinámica de la galería mediante iframes de YouTube, reduciendo el peso del servidor y mejorando el tiempo de respuesta.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949B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39"/>
          <p:cNvPicPr preferRelativeResize="0"/>
          <p:nvPr/>
        </p:nvPicPr>
        <p:blipFill rotWithShape="1">
          <a:blip r:embed="rId3">
            <a:alphaModFix/>
          </a:blip>
          <a:srcRect b="12801" l="0" r="0" t="0"/>
          <a:stretch/>
        </p:blipFill>
        <p:spPr>
          <a:xfrm>
            <a:off x="49775" y="190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9"/>
          <p:cNvSpPr/>
          <p:nvPr/>
        </p:nvSpPr>
        <p:spPr>
          <a:xfrm>
            <a:off x="49775" y="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9"/>
          <p:cNvSpPr txBox="1"/>
          <p:nvPr/>
        </p:nvSpPr>
        <p:spPr>
          <a:xfrm>
            <a:off x="756475" y="3450500"/>
            <a:ext cx="82875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</a:t>
            </a:r>
            <a:endParaRPr sz="3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9" name="Google Shape;299;p39"/>
          <p:cNvSpPr txBox="1"/>
          <p:nvPr/>
        </p:nvSpPr>
        <p:spPr>
          <a:xfrm>
            <a:off x="756475" y="23843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 b="1" sz="8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00" name="Google Shape;300;p39"/>
          <p:cNvCxnSpPr/>
          <p:nvPr/>
        </p:nvCxnSpPr>
        <p:spPr>
          <a:xfrm>
            <a:off x="909273" y="4590631"/>
            <a:ext cx="647100" cy="0"/>
          </a:xfrm>
          <a:prstGeom prst="straightConnector1">
            <a:avLst/>
          </a:prstGeom>
          <a:noFill/>
          <a:ln cap="flat" cmpd="sng" w="76200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1" name="Google Shape;301;p39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650" y="47455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0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09.1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LOGROS ALCANZADOS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07" name="Google Shape;307;p40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40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0"/>
          <p:cNvSpPr txBox="1"/>
          <p:nvPr/>
        </p:nvSpPr>
        <p:spPr>
          <a:xfrm>
            <a:off x="710350" y="1730550"/>
            <a:ext cx="7862100" cy="871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accent4"/>
                </a:solidFill>
              </a:rPr>
              <a:t>Digitalización del Negocio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2"/>
                </a:solidFill>
              </a:rPr>
              <a:t>Paso de una gestión analógica a un ecosistema web 100% funcional. 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710350" y="2743300"/>
            <a:ext cx="7862100" cy="871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accent4"/>
                </a:solidFill>
              </a:rPr>
              <a:t>Arquitectura Robusta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2"/>
                </a:solidFill>
              </a:rPr>
              <a:t>Base de datos relacional que soporta usuarios, citas, servicios y reseñas.</a:t>
            </a:r>
            <a:r>
              <a:rPr lang="es" sz="1500"/>
              <a:t> </a:t>
            </a:r>
            <a:endParaRPr sz="1500"/>
          </a:p>
        </p:txBody>
      </p:sp>
      <p:sp>
        <p:nvSpPr>
          <p:cNvPr id="311" name="Google Shape;311;p40"/>
          <p:cNvSpPr txBox="1"/>
          <p:nvPr/>
        </p:nvSpPr>
        <p:spPr>
          <a:xfrm>
            <a:off x="710350" y="3756050"/>
            <a:ext cx="7862100" cy="871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accent4"/>
                </a:solidFill>
              </a:rPr>
              <a:t>Identidad Visual</a:t>
            </a:r>
            <a:r>
              <a:rPr lang="es" sz="1500">
                <a:solidFill>
                  <a:schemeClr val="accent4"/>
                </a:solidFill>
              </a:rPr>
              <a:t> </a:t>
            </a:r>
            <a:endParaRPr sz="15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Creación de una interfaz "Premium" que mejora el posicionamiento de marca de </a:t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</a:rPr>
              <a:t>Martín</a:t>
            </a:r>
            <a:r>
              <a:rPr lang="es" sz="1500">
                <a:solidFill>
                  <a:schemeClr val="lt1"/>
                </a:solidFill>
              </a:rPr>
              <a:t> Barber. </a:t>
            </a:r>
            <a:endParaRPr sz="1500">
              <a:solidFill>
                <a:schemeClr val="lt1"/>
              </a:solidFill>
            </a:endParaRPr>
          </a:p>
        </p:txBody>
      </p:sp>
      <p:pic>
        <p:nvPicPr>
          <p:cNvPr id="312" name="Google Shape;31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6300" y="1797553"/>
            <a:ext cx="705275" cy="7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6300" y="2826553"/>
            <a:ext cx="705275" cy="7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6300" y="3781416"/>
            <a:ext cx="705275" cy="7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09.2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APRENDIZAJES TECNICOS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20" name="Google Shape;320;p41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41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1"/>
          <p:cNvSpPr txBox="1"/>
          <p:nvPr/>
        </p:nvSpPr>
        <p:spPr>
          <a:xfrm>
            <a:off x="703400" y="1713600"/>
            <a:ext cx="2260200" cy="1813200"/>
          </a:xfrm>
          <a:prstGeom prst="rect">
            <a:avLst/>
          </a:prstGeom>
          <a:noFill/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PHP &amp; Gestión de Sesiones:</a:t>
            </a:r>
            <a:r>
              <a:rPr lang="es" sz="1500"/>
              <a:t> Control de seguridad y acceso basado en roles (Admin vs. Cliente).</a:t>
            </a:r>
            <a:endParaRPr sz="15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23" name="Google Shape;323;p41"/>
          <p:cNvSpPr txBox="1"/>
          <p:nvPr/>
        </p:nvSpPr>
        <p:spPr>
          <a:xfrm>
            <a:off x="3467525" y="1713600"/>
            <a:ext cx="2260200" cy="1813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SQL Avanzado:</a:t>
            </a:r>
            <a:r>
              <a:rPr lang="es" sz="1500"/>
              <a:t> Optimización de consultas para agendas dinámicas y reportes estadísticos.</a:t>
            </a:r>
            <a:endParaRPr sz="15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24" name="Google Shape;324;p41"/>
          <p:cNvSpPr txBox="1"/>
          <p:nvPr/>
        </p:nvSpPr>
        <p:spPr>
          <a:xfrm>
            <a:off x="6118650" y="1713600"/>
            <a:ext cx="2562600" cy="1813200"/>
          </a:xfrm>
          <a:prstGeom prst="rect">
            <a:avLst/>
          </a:prstGeom>
          <a:noFill/>
          <a:ln cap="flat" cmpd="sng" w="9525">
            <a:solidFill>
              <a:srgbClr val="1F1F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Frontend UX/UI:</a:t>
            </a:r>
            <a:r>
              <a:rPr lang="es" sz="1500"/>
              <a:t> Implementación de diseño responsivo y manejo de recursos multimedia externos (iFrames).</a:t>
            </a:r>
            <a:endParaRPr sz="15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25" name="Google Shape;32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7250" y="36833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001" y="3683326"/>
            <a:ext cx="952500" cy="952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6750" y="3683324"/>
            <a:ext cx="952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09.3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APRENDIZAJES PERSONALES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33" name="Google Shape;333;p42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42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2"/>
          <p:cNvSpPr txBox="1"/>
          <p:nvPr/>
        </p:nvSpPr>
        <p:spPr>
          <a:xfrm>
            <a:off x="703400" y="1554975"/>
            <a:ext cx="5634600" cy="7353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Resolución de Problemas (Debugging):</a:t>
            </a:r>
            <a:r>
              <a:rPr lang="es" sz="1500"/>
              <a:t> Capacidad de identificar y corregir errores en tiempo real bajo presión.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36" name="Google Shape;336;p42"/>
          <p:cNvSpPr txBox="1"/>
          <p:nvPr/>
        </p:nvSpPr>
        <p:spPr>
          <a:xfrm>
            <a:off x="703400" y="3701700"/>
            <a:ext cx="5964000" cy="7353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Autogestión:</a:t>
            </a:r>
            <a:r>
              <a:rPr lang="es" sz="1500"/>
              <a:t> Planificación del desarrollo desde la fase de diseño hasta la entrega final del producto.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37" name="Google Shape;337;p42"/>
          <p:cNvSpPr txBox="1"/>
          <p:nvPr/>
        </p:nvSpPr>
        <p:spPr>
          <a:xfrm>
            <a:off x="1833200" y="2590213"/>
            <a:ext cx="6286500" cy="7353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Adaptabilidad:</a:t>
            </a:r>
            <a:r>
              <a:rPr lang="es" sz="1500"/>
              <a:t> Capacidad para integrar nuevas funcionalidades solicitadas durante el proceso de desarrollo.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38" name="Google Shape;33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535350" y="1441300"/>
            <a:ext cx="849000" cy="8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9875" y="3625450"/>
            <a:ext cx="849000" cy="8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400" y="2571504"/>
            <a:ext cx="849000" cy="84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09.4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LIMITACIONES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46" name="Google Shape;346;p43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7" name="Google Shape;347;p43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3"/>
          <p:cNvSpPr txBox="1"/>
          <p:nvPr/>
        </p:nvSpPr>
        <p:spPr>
          <a:xfrm>
            <a:off x="703400" y="1872700"/>
            <a:ext cx="2958300" cy="2405700"/>
          </a:xfrm>
          <a:prstGeom prst="rect">
            <a:avLst/>
          </a:prstGeom>
          <a:solidFill>
            <a:schemeClr val="dk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accent4"/>
                </a:solidFill>
              </a:rPr>
              <a:t>ENTORNO LOCAL</a:t>
            </a:r>
            <a:endParaRPr b="1" sz="1700">
              <a:solidFill>
                <a:schemeClr val="accent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2"/>
                </a:solidFill>
              </a:rPr>
              <a:t>El sistema actualmente reside en un servidor local (XAMPP), no en la nube pública.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49" name="Google Shape;349;p43"/>
          <p:cNvSpPr txBox="1"/>
          <p:nvPr/>
        </p:nvSpPr>
        <p:spPr>
          <a:xfrm>
            <a:off x="3863075" y="1872700"/>
            <a:ext cx="4818300" cy="1074600"/>
          </a:xfrm>
          <a:prstGeom prst="rect">
            <a:avLst/>
          </a:prstGeom>
          <a:solidFill>
            <a:schemeClr val="dk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900">
                <a:solidFill>
                  <a:schemeClr val="accent4"/>
                </a:solidFill>
              </a:rPr>
              <a:t> </a:t>
            </a:r>
            <a:r>
              <a:rPr b="1" lang="es" sz="1700">
                <a:solidFill>
                  <a:schemeClr val="accent4"/>
                </a:solidFill>
              </a:rPr>
              <a:t>PAGOS</a:t>
            </a:r>
            <a:br>
              <a:rPr b="1" lang="es" sz="1900">
                <a:solidFill>
                  <a:schemeClr val="accent4"/>
                </a:solidFill>
              </a:rPr>
            </a:br>
            <a:r>
              <a:rPr b="1" lang="es" sz="1900">
                <a:solidFill>
                  <a:schemeClr val="accent4"/>
                </a:solidFill>
              </a:rPr>
              <a:t> </a:t>
            </a:r>
            <a:r>
              <a:rPr lang="es" sz="1500">
                <a:solidFill>
                  <a:schemeClr val="lt2"/>
                </a:solidFill>
              </a:rPr>
              <a:t>No se ha implementado pasarela de pago real (Stripe/PayPal) por cuestiones de fianza. 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350" name="Google Shape;350;p43"/>
          <p:cNvSpPr txBox="1"/>
          <p:nvPr/>
        </p:nvSpPr>
        <p:spPr>
          <a:xfrm>
            <a:off x="3863075" y="3203800"/>
            <a:ext cx="4818300" cy="1074600"/>
          </a:xfrm>
          <a:prstGeom prst="rect">
            <a:avLst/>
          </a:prstGeom>
          <a:solidFill>
            <a:schemeClr val="dk2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700">
                <a:solidFill>
                  <a:schemeClr val="accent4"/>
                </a:solidFill>
              </a:rPr>
              <a:t> NOTIFICACIONES</a:t>
            </a:r>
            <a:br>
              <a:rPr b="1" lang="es" sz="1900">
                <a:solidFill>
                  <a:schemeClr val="accent4"/>
                </a:solidFill>
              </a:rPr>
            </a:br>
            <a:r>
              <a:rPr lang="es" sz="1500">
                <a:solidFill>
                  <a:schemeClr val="lt2"/>
                </a:solidFill>
              </a:rPr>
              <a:t>La comunicación es interna; falta integración con   APIs externas de mensajería (WhatsApp/SMS). </a:t>
            </a:r>
            <a:endParaRPr sz="15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949B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44"/>
          <p:cNvPicPr preferRelativeResize="0"/>
          <p:nvPr/>
        </p:nvPicPr>
        <p:blipFill rotWithShape="1">
          <a:blip r:embed="rId3">
            <a:alphaModFix/>
          </a:blip>
          <a:srcRect b="12801" l="0" r="0" t="0"/>
          <a:stretch/>
        </p:blipFill>
        <p:spPr>
          <a:xfrm>
            <a:off x="49775" y="19050"/>
            <a:ext cx="9144003" cy="53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4"/>
          <p:cNvSpPr/>
          <p:nvPr/>
        </p:nvSpPr>
        <p:spPr>
          <a:xfrm>
            <a:off x="49775" y="0"/>
            <a:ext cx="9144000" cy="5333100"/>
          </a:xfrm>
          <a:prstGeom prst="rect">
            <a:avLst/>
          </a:prstGeom>
          <a:solidFill>
            <a:srgbClr val="152A1D">
              <a:alpha val="529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4"/>
          <p:cNvSpPr txBox="1"/>
          <p:nvPr/>
        </p:nvSpPr>
        <p:spPr>
          <a:xfrm>
            <a:off x="756475" y="3450500"/>
            <a:ext cx="82875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LÍNEAS</a:t>
            </a:r>
            <a:r>
              <a:rPr lang="es" sz="3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FUTURAS DE MEJORA</a:t>
            </a:r>
            <a:endParaRPr sz="3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8" name="Google Shape;358;p44"/>
          <p:cNvSpPr txBox="1"/>
          <p:nvPr/>
        </p:nvSpPr>
        <p:spPr>
          <a:xfrm>
            <a:off x="756475" y="2384334"/>
            <a:ext cx="30573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 b="1" sz="8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59" name="Google Shape;359;p44"/>
          <p:cNvCxnSpPr/>
          <p:nvPr/>
        </p:nvCxnSpPr>
        <p:spPr>
          <a:xfrm>
            <a:off x="909273" y="4590631"/>
            <a:ext cx="647100" cy="0"/>
          </a:xfrm>
          <a:prstGeom prst="straightConnector1">
            <a:avLst/>
          </a:prstGeom>
          <a:noFill/>
          <a:ln cap="flat" cmpd="sng" w="76200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0" name="Google Shape;360;p44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8650" y="4745563"/>
            <a:ext cx="952499" cy="115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10</a:t>
            </a: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.1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FUNCIONALIDADES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66" name="Google Shape;366;p45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45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5"/>
          <p:cNvSpPr txBox="1"/>
          <p:nvPr/>
        </p:nvSpPr>
        <p:spPr>
          <a:xfrm>
            <a:off x="578775" y="1763225"/>
            <a:ext cx="2504700" cy="2143800"/>
          </a:xfrm>
          <a:prstGeom prst="rect">
            <a:avLst/>
          </a:prstGeom>
          <a:solidFill>
            <a:srgbClr val="CCCCCC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Recordatorios de Citas Automáticos</a:t>
            </a:r>
            <a:endParaRPr b="1" sz="1600">
              <a:solidFill>
                <a:srgbClr val="1F1F1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Integración API WhatsApp automáticos 24h antes.</a:t>
            </a:r>
            <a:endParaRPr sz="15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69" name="Google Shape;369;p45"/>
          <p:cNvSpPr txBox="1"/>
          <p:nvPr/>
        </p:nvSpPr>
        <p:spPr>
          <a:xfrm>
            <a:off x="6327575" y="1763225"/>
            <a:ext cx="2353800" cy="2143800"/>
          </a:xfrm>
          <a:prstGeom prst="rect">
            <a:avLst/>
          </a:prstGeom>
          <a:solidFill>
            <a:srgbClr val="CCCCCC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1F1F1F"/>
                </a:solidFill>
              </a:rPr>
              <a:t> </a:t>
            </a:r>
            <a:r>
              <a:rPr b="1" lang="es" sz="16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Programa de Fidelización</a:t>
            </a:r>
            <a:endParaRPr b="1" sz="1600">
              <a:solidFill>
                <a:srgbClr val="1F1F1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Puntos canjeables por descuentos para clientes recurrentes.</a:t>
            </a:r>
            <a:endParaRPr sz="15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70" name="Google Shape;370;p45"/>
          <p:cNvSpPr txBox="1"/>
          <p:nvPr/>
        </p:nvSpPr>
        <p:spPr>
          <a:xfrm>
            <a:off x="3453175" y="1763225"/>
            <a:ext cx="2504700" cy="2143800"/>
          </a:xfrm>
          <a:prstGeom prst="rect">
            <a:avLst/>
          </a:prstGeom>
          <a:solidFill>
            <a:srgbClr val="CCCCCC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rPr>
              <a:t>Módulo de Inventario</a:t>
            </a:r>
            <a:endParaRPr b="1" sz="1600">
              <a:solidFill>
                <a:schemeClr val="accen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Control stock ceras, aceites con alertas escasez.</a:t>
            </a:r>
            <a:endParaRPr sz="15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10.1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ESCALABILIDAD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76" name="Google Shape;376;p46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p46" title="logo verd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597" y="1799085"/>
            <a:ext cx="2673850" cy="30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6"/>
          <p:cNvSpPr txBox="1"/>
          <p:nvPr/>
        </p:nvSpPr>
        <p:spPr>
          <a:xfrm>
            <a:off x="5389700" y="2706388"/>
            <a:ext cx="2673900" cy="1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Punto Medio</a:t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Multi-Sucursal: Capacidad de gestionar varias sedes desde un mismo panel Admin.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80" name="Google Shape;380;p46"/>
          <p:cNvSpPr txBox="1"/>
          <p:nvPr/>
        </p:nvSpPr>
        <p:spPr>
          <a:xfrm>
            <a:off x="1146200" y="1557075"/>
            <a:ext cx="2673900" cy="14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Punto Alto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Alto Tráfico: Optimización de base de datos para soportar miles de usuarios diarios.</a:t>
            </a:r>
            <a:endParaRPr/>
          </a:p>
        </p:txBody>
      </p:sp>
      <p:sp>
        <p:nvSpPr>
          <p:cNvPr id="381" name="Google Shape;381;p46"/>
          <p:cNvSpPr txBox="1"/>
          <p:nvPr/>
        </p:nvSpPr>
        <p:spPr>
          <a:xfrm>
            <a:off x="1359200" y="3619450"/>
            <a:ext cx="2247900" cy="9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Punto Bajo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Entorno Local: Gestión de una única barbería en servidor XAMPP.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1338" y="1557075"/>
            <a:ext cx="5987824" cy="325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7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10.1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INTEGRACIONES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88" name="Google Shape;388;p47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p47" title="logo verde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7"/>
          <p:cNvSpPr txBox="1"/>
          <p:nvPr/>
        </p:nvSpPr>
        <p:spPr>
          <a:xfrm>
            <a:off x="4673950" y="794600"/>
            <a:ext cx="26352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[Google Calendar] </a:t>
            </a:r>
            <a:r>
              <a:rPr lang="es"/>
              <a:t>Sincronización bidireccional de citas con el calendario del móvil.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7"/>
          <p:cNvSpPr txBox="1"/>
          <p:nvPr/>
        </p:nvSpPr>
        <p:spPr>
          <a:xfrm>
            <a:off x="703400" y="1872500"/>
            <a:ext cx="2289600" cy="10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[Pasarelas de Pago]</a:t>
            </a:r>
            <a:r>
              <a:rPr lang="es"/>
              <a:t> Cobro fianza mediante Bizum o Tarjeta al realizar la reserva.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7"/>
          <p:cNvSpPr txBox="1"/>
          <p:nvPr/>
        </p:nvSpPr>
        <p:spPr>
          <a:xfrm>
            <a:off x="6935125" y="2426438"/>
            <a:ext cx="2289600" cy="12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[RRSS] </a:t>
            </a:r>
            <a:br>
              <a:rPr lang="es"/>
            </a:br>
            <a:r>
              <a:rPr lang="es"/>
              <a:t>Venta directa de productos desde el catálogo conectado a Instagram Shopping.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0537" y="1446375"/>
            <a:ext cx="2481500" cy="274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8"/>
          <p:cNvSpPr txBox="1"/>
          <p:nvPr/>
        </p:nvSpPr>
        <p:spPr>
          <a:xfrm>
            <a:off x="578775" y="230775"/>
            <a:ext cx="79938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10.1 TFG DAM2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rgbClr val="1E3740"/>
                </a:solidFill>
                <a:latin typeface="Poppins Light"/>
                <a:ea typeface="Poppins Light"/>
                <a:cs typeface="Poppins Light"/>
                <a:sym typeface="Poppins Light"/>
              </a:rPr>
              <a:t>EVOLUCION</a:t>
            </a:r>
            <a:endParaRPr sz="3300">
              <a:solidFill>
                <a:srgbClr val="1E3740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99" name="Google Shape;399;p48"/>
          <p:cNvSpPr/>
          <p:nvPr/>
        </p:nvSpPr>
        <p:spPr>
          <a:xfrm>
            <a:off x="703400" y="1410675"/>
            <a:ext cx="1388700" cy="35700"/>
          </a:xfrm>
          <a:prstGeom prst="rect">
            <a:avLst/>
          </a:prstGeom>
          <a:solidFill>
            <a:srgbClr val="E69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48" title="logo verde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8875" y="4736263"/>
            <a:ext cx="952499" cy="11554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8"/>
          <p:cNvSpPr txBox="1"/>
          <p:nvPr/>
        </p:nvSpPr>
        <p:spPr>
          <a:xfrm>
            <a:off x="1343625" y="1734650"/>
            <a:ext cx="2586900" cy="1111500"/>
          </a:xfrm>
          <a:prstGeom prst="rect">
            <a:avLst/>
          </a:prstGeom>
          <a:solidFill>
            <a:srgbClr val="CCCCCC"/>
          </a:solidFill>
          <a:ln cap="flat" cmpd="sng" w="2857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Puesta en Producción</a:t>
            </a:r>
            <a:br>
              <a:rPr b="1" lang="es"/>
            </a:br>
            <a:r>
              <a:rPr lang="es"/>
              <a:t>Migración de Localhost a un dominio real (ej:https://martinbarber.com).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8"/>
          <p:cNvSpPr txBox="1"/>
          <p:nvPr/>
        </p:nvSpPr>
        <p:spPr>
          <a:xfrm>
            <a:off x="1343625" y="3571675"/>
            <a:ext cx="2586900" cy="1164600"/>
          </a:xfrm>
          <a:prstGeom prst="rect">
            <a:avLst/>
          </a:prstGeom>
          <a:solidFill>
            <a:srgbClr val="CCCCCC"/>
          </a:solidFill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Transformación a App</a:t>
            </a:r>
            <a:br>
              <a:rPr b="1" lang="es"/>
            </a:br>
            <a:r>
              <a:rPr lang="es"/>
              <a:t>Evolución hacia una PWA (Progressive Web App) instalable en móviles.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8"/>
          <p:cNvSpPr txBox="1"/>
          <p:nvPr/>
        </p:nvSpPr>
        <p:spPr>
          <a:xfrm>
            <a:off x="6412025" y="3284475"/>
            <a:ext cx="2586900" cy="1111500"/>
          </a:xfrm>
          <a:prstGeom prst="rect">
            <a:avLst/>
          </a:prstGeom>
          <a:solidFill>
            <a:srgbClr val="CCCCCC"/>
          </a:solidFill>
          <a:ln cap="flat" cmpd="sng" w="28575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500"/>
              <a:t>Marketing</a:t>
            </a:r>
            <a:br>
              <a:rPr b="1" lang="es"/>
            </a:br>
            <a:r>
              <a:rPr lang="es"/>
              <a:t>Uso de estadísticas de servicios para campañas dirigidas.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49" title="female-college-student-looking-back-at-camera-walk-2025-01-10-03-12-56-utc.jpg"/>
          <p:cNvPicPr preferRelativeResize="0"/>
          <p:nvPr/>
        </p:nvPicPr>
        <p:blipFill rotWithShape="1">
          <a:blip r:embed="rId3">
            <a:alphaModFix/>
          </a:blip>
          <a:srcRect b="6248" l="0" r="0" t="6248"/>
          <a:stretch/>
        </p:blipFill>
        <p:spPr>
          <a:xfrm>
            <a:off x="0" y="-9300"/>
            <a:ext cx="9144003" cy="5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9"/>
          <p:cNvSpPr/>
          <p:nvPr/>
        </p:nvSpPr>
        <p:spPr>
          <a:xfrm>
            <a:off x="0" y="-9300"/>
            <a:ext cx="9144000" cy="5333100"/>
          </a:xfrm>
          <a:prstGeom prst="rect">
            <a:avLst/>
          </a:prstGeom>
          <a:solidFill>
            <a:srgbClr val="152A1D">
              <a:alpha val="6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9"/>
          <p:cNvSpPr/>
          <p:nvPr/>
        </p:nvSpPr>
        <p:spPr>
          <a:xfrm rot="10800000">
            <a:off x="7782000" y="367900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1" name="Google Shape;411;p49"/>
          <p:cNvSpPr/>
          <p:nvPr/>
        </p:nvSpPr>
        <p:spPr>
          <a:xfrm>
            <a:off x="381075" y="3949313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2" name="Google Shape;412;p49"/>
          <p:cNvSpPr txBox="1"/>
          <p:nvPr/>
        </p:nvSpPr>
        <p:spPr>
          <a:xfrm>
            <a:off x="1892100" y="2195575"/>
            <a:ext cx="5359800" cy="1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300">
                <a:solidFill>
                  <a:schemeClr val="lt2"/>
                </a:solidFill>
              </a:rPr>
              <a:t>GRACIAS POR VUESTRA </a:t>
            </a:r>
            <a:r>
              <a:rPr lang="es" sz="3300">
                <a:solidFill>
                  <a:schemeClr val="lt2"/>
                </a:solidFill>
              </a:rPr>
              <a:t>ATENCIÓN</a:t>
            </a:r>
            <a:endParaRPr sz="33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0" title="female-college-student-looking-back-at-camera-walk-2025-01-10-03-12-56-utc.jpg"/>
          <p:cNvPicPr preferRelativeResize="0"/>
          <p:nvPr/>
        </p:nvPicPr>
        <p:blipFill rotWithShape="1">
          <a:blip r:embed="rId3">
            <a:alphaModFix/>
          </a:blip>
          <a:srcRect b="6248" l="0" r="0" t="6248"/>
          <a:stretch/>
        </p:blipFill>
        <p:spPr>
          <a:xfrm>
            <a:off x="0" y="-9300"/>
            <a:ext cx="9144003" cy="5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0"/>
          <p:cNvSpPr/>
          <p:nvPr/>
        </p:nvSpPr>
        <p:spPr>
          <a:xfrm>
            <a:off x="0" y="-9300"/>
            <a:ext cx="9144000" cy="5333100"/>
          </a:xfrm>
          <a:prstGeom prst="rect">
            <a:avLst/>
          </a:prstGeom>
          <a:solidFill>
            <a:srgbClr val="152A1D">
              <a:alpha val="686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0"/>
          <p:cNvSpPr/>
          <p:nvPr/>
        </p:nvSpPr>
        <p:spPr>
          <a:xfrm rot="10800000">
            <a:off x="7782000" y="367900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20" name="Google Shape;420;p50"/>
          <p:cNvSpPr/>
          <p:nvPr/>
        </p:nvSpPr>
        <p:spPr>
          <a:xfrm>
            <a:off x="381075" y="3949313"/>
            <a:ext cx="952500" cy="826275"/>
          </a:xfrm>
          <a:custGeom>
            <a:rect b="b" l="l" r="r" t="t"/>
            <a:pathLst>
              <a:path extrusionOk="0" h="33051" w="3810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cap="flat" cmpd="sng" w="28575">
            <a:solidFill>
              <a:srgbClr val="E6945A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421" name="Google Shape;421;p50" title="logo blan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7625" y="2416525"/>
            <a:ext cx="3968725" cy="4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52A1D"/>
      </a:dk1>
      <a:lt1>
        <a:srgbClr val="FFFFFF"/>
      </a:lt1>
      <a:dk2>
        <a:srgbClr val="595959"/>
      </a:dk2>
      <a:lt2>
        <a:srgbClr val="EEEEEE"/>
      </a:lt2>
      <a:accent1>
        <a:srgbClr val="E6945A"/>
      </a:accent1>
      <a:accent2>
        <a:srgbClr val="212121"/>
      </a:accent2>
      <a:accent3>
        <a:srgbClr val="78909C"/>
      </a:accent3>
      <a:accent4>
        <a:srgbClr val="FFAB40"/>
      </a:accent4>
      <a:accent5>
        <a:srgbClr val="E6945A"/>
      </a:accent5>
      <a:accent6>
        <a:srgbClr val="E6945A"/>
      </a:accent6>
      <a:hlink>
        <a:srgbClr val="E694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